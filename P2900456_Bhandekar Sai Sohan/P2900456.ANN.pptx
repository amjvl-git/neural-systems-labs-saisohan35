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Bitter Medium" panose="020B0604020202020204" charset="0"/>
      <p:regular r:id="rId14"/>
    </p:embeddedFont>
    <p:embeddedFont>
      <p:font typeface="Open Sans" panose="020B0606030504020204" pitchFamily="3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4746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043118"/>
            <a:ext cx="129882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Neural Systems for Fashion-MNIST Classification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2055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Sai Sohan Bhandekar | P2900456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82357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5808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Introduction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33844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The Challenge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785949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Accurate detection of clothing items in photographs is fundamental to computer vision, with applications in online shopping, stock management, and fashion trend analysis.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441633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Fashion-MNIST dataset: 28x28 grayscale images across 10 fashion categories.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133844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Our Focus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7599521" y="378594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project experiments with and compares the performance and overfitting characteristics of different neural architectures on the Fashion-MNIST dataset.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7452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Project Objectives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036927"/>
            <a:ext cx="4196358" cy="3318153"/>
          </a:xfrm>
          <a:prstGeom prst="roundRect">
            <a:avLst>
              <a:gd name="adj" fmla="val 2871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28224" y="327136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2600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390" y="3458408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4178617"/>
            <a:ext cx="308312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Compare Architectures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4669036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Evaluate performance differences between ANN and CNN models on fashion image classification.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3036927"/>
            <a:ext cx="4196358" cy="3318153"/>
          </a:xfrm>
          <a:prstGeom prst="roundRect">
            <a:avLst>
              <a:gd name="adj" fmla="val 2871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5451396" y="327136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2600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8562" y="3458408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51396" y="41786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Analyze Overfitting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51396" y="4669036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 and measure overfitting patterns across different neural network architectures.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3036927"/>
            <a:ext cx="4196358" cy="3318153"/>
          </a:xfrm>
          <a:prstGeom prst="roundRect">
            <a:avLst>
              <a:gd name="adj" fmla="val 2871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9874568" y="327136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2600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61734" y="3458408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4568" y="4178617"/>
            <a:ext cx="300740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Optimize Performance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74568" y="4669036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 enhancements to improve classification accuracy and reduce confusion between similar classes.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37786"/>
            <a:ext cx="667273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Methodology &amp; Approach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00193"/>
            <a:ext cx="1134070" cy="13608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54674" y="27270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Basic Models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154674" y="3217426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 baseline ANN and CNN architectures for initial performance benchmarking.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861078"/>
            <a:ext cx="1134070" cy="16698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154674" y="4087892"/>
            <a:ext cx="345686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Enhancement Techniques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2154674" y="4578310"/>
            <a:ext cx="116819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Apply Batch Normalization, additional layers, and data augmentation (RandomHorizontalFlip, RandomRotation).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530929"/>
            <a:ext cx="1134070" cy="13608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154674" y="57577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Evaluation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2154674" y="6248162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Analyze confusion matrices and accuracy metrics to compare model performance.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146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Dataset &amp; Materials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07218"/>
            <a:ext cx="3769757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Fashion-MNIST Dataset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159323"/>
            <a:ext cx="4885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28x28 grayscale images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601522"/>
            <a:ext cx="4885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 fashion categories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043720"/>
            <a:ext cx="4885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and test splits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485918"/>
            <a:ext cx="4885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Standardized benchmark dataset</a:t>
            </a:r>
            <a:endParaRPr lang="en-US" sz="17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39828" y="2535555"/>
            <a:ext cx="453628" cy="4536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39828" y="3272671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Apparel: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T-shirt/top, Shirt, Pullover, Coat, Dress</a:t>
            </a:r>
            <a:endParaRPr lang="en-US" sz="17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39828" y="4089202"/>
            <a:ext cx="453628" cy="4536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39828" y="4826318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Footwear: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Sandal, Sneaker, Ankle boot</a:t>
            </a:r>
            <a:endParaRPr lang="en-US" sz="17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39828" y="5642848"/>
            <a:ext cx="453628" cy="4536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39828" y="6379964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Accessories: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Bag, Trouser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10057"/>
            <a:ext cx="651295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Implementation Process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4695944"/>
            <a:ext cx="13042821" cy="30480"/>
          </a:xfrm>
          <a:prstGeom prst="roundRect">
            <a:avLst>
              <a:gd name="adj" fmla="val 312558"/>
            </a:avLst>
          </a:prstGeom>
          <a:solidFill>
            <a:srgbClr val="E2C8B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301960" y="4015502"/>
            <a:ext cx="30480" cy="680442"/>
          </a:xfrm>
          <a:prstGeom prst="roundRect">
            <a:avLst>
              <a:gd name="adj" fmla="val 312558"/>
            </a:avLst>
          </a:prstGeom>
          <a:solidFill>
            <a:srgbClr val="E2C8B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062049" y="444079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147120" y="448329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1899642" y="25724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Phase 1: Baseline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20604" y="3062883"/>
            <a:ext cx="459331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Trained basic ANN and CNN models to establish performance benchmarks.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967293" y="4695944"/>
            <a:ext cx="30480" cy="680442"/>
          </a:xfrm>
          <a:prstGeom prst="roundRect">
            <a:avLst>
              <a:gd name="adj" fmla="val 312558"/>
            </a:avLst>
          </a:prstGeom>
          <a:solidFill>
            <a:srgbClr val="E2C8B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727382" y="444079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812453" y="448329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4564856" y="56032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Phase 2: Analysis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85818" y="6093619"/>
            <a:ext cx="45934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Examined confusion matrices to identify problematic class pairs.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8632508" y="4015502"/>
            <a:ext cx="30480" cy="680442"/>
          </a:xfrm>
          <a:prstGeom prst="roundRect">
            <a:avLst>
              <a:gd name="adj" fmla="val 312558"/>
            </a:avLst>
          </a:prstGeom>
          <a:solidFill>
            <a:srgbClr val="E2C8B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392597" y="444079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477667" y="448329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7148513" y="2572464"/>
            <a:ext cx="29983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Phase 3: Enhancement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51032" y="3062883"/>
            <a:ext cx="45934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Applied Batch Normalization, added layers, implemented data augmentation.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11297841" y="4695944"/>
            <a:ext cx="30480" cy="680442"/>
          </a:xfrm>
          <a:prstGeom prst="roundRect">
            <a:avLst>
              <a:gd name="adj" fmla="val 312558"/>
            </a:avLst>
          </a:prstGeom>
          <a:solidFill>
            <a:srgbClr val="E2C8B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11057930" y="444079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1143000" y="448329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4</a:t>
            </a:r>
            <a:endParaRPr lang="en-US" sz="2650" dirty="0"/>
          </a:p>
        </p:txBody>
      </p:sp>
      <p:sp>
        <p:nvSpPr>
          <p:cNvPr id="22" name="Text 20"/>
          <p:cNvSpPr/>
          <p:nvPr/>
        </p:nvSpPr>
        <p:spPr>
          <a:xfrm>
            <a:off x="9895403" y="56032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Phase 4: Validation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016365" y="6093619"/>
            <a:ext cx="45934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Evaluated enhanced models and compared improvements.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2363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Results &amp; Findings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99385"/>
            <a:ext cx="304800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87.69%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900113" y="37311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Basic ANN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221599"/>
            <a:ext cx="304800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Baseline accuracy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125278" y="2699385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91.45%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4231719" y="37311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Basic CNN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25278" y="4221599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Baseline accuracy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456884" y="2699385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88.92%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7563326" y="37311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Enhanced ANN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56884" y="4221599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+3.92% improvement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0788491" y="2699385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92.02%</a:t>
            </a:r>
            <a:endParaRPr lang="en-US" sz="5850" dirty="0"/>
          </a:p>
        </p:txBody>
      </p:sp>
      <p:sp>
        <p:nvSpPr>
          <p:cNvPr id="13" name="Text 11"/>
          <p:cNvSpPr/>
          <p:nvPr/>
        </p:nvSpPr>
        <p:spPr>
          <a:xfrm>
            <a:off x="10894933" y="37311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Enhanced CNN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788491" y="4221599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+2.02% improvement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4839653"/>
            <a:ext cx="13042821" cy="1966198"/>
          </a:xfrm>
          <a:prstGeom prst="roundRect">
            <a:avLst>
              <a:gd name="adj" fmla="val 484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01410" y="4847273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028462" y="4990981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4940498" y="4990981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Accuracy (%)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545943" y="4990981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Loss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10151388" y="4990981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Improvement (%)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801410" y="5497592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028462" y="5641300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Enhanced ANN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4940498" y="5641300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88.92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7545943" y="5641300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0.3049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10151388" y="5641300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+3.92</a:t>
            </a:r>
            <a:endParaRPr lang="en-US" sz="1750" dirty="0"/>
          </a:p>
        </p:txBody>
      </p:sp>
      <p:sp>
        <p:nvSpPr>
          <p:cNvPr id="26" name="Shape 24"/>
          <p:cNvSpPr/>
          <p:nvPr/>
        </p:nvSpPr>
        <p:spPr>
          <a:xfrm>
            <a:off x="801410" y="6147911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028462" y="6291620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Enhanced CNN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4940498" y="6291620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92.02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7545943" y="6291620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0.2202</a:t>
            </a:r>
            <a:endParaRPr lang="en-US" sz="1750" dirty="0"/>
          </a:p>
        </p:txBody>
      </p:sp>
      <p:sp>
        <p:nvSpPr>
          <p:cNvPr id="30" name="Text 28"/>
          <p:cNvSpPr/>
          <p:nvPr/>
        </p:nvSpPr>
        <p:spPr>
          <a:xfrm>
            <a:off x="10151388" y="6291620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+2.02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60934"/>
            <a:ext cx="729817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Discussion &amp; Interpretation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923342"/>
            <a:ext cx="4196358" cy="3545324"/>
          </a:xfrm>
          <a:prstGeom prst="roundRect">
            <a:avLst>
              <a:gd name="adj" fmla="val 4127"/>
            </a:avLst>
          </a:prstGeom>
          <a:solidFill>
            <a:srgbClr val="FFF8F0"/>
          </a:solidFill>
          <a:ln w="3048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63310" y="2923342"/>
            <a:ext cx="121920" cy="3545324"/>
          </a:xfrm>
          <a:prstGeom prst="roundRect">
            <a:avLst>
              <a:gd name="adj" fmla="val 78139"/>
            </a:avLst>
          </a:prstGeom>
          <a:solidFill>
            <a:srgbClr val="D2600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142524" y="31806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CNN Superiority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671054"/>
            <a:ext cx="359033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CNN architecture fundamentally better suited for image data due to spatial feature learning through convolutional layers. Enhanced CNN outperformed enhanced ANN by 3.10%.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2923342"/>
            <a:ext cx="4196358" cy="3545324"/>
          </a:xfrm>
          <a:prstGeom prst="roundRect">
            <a:avLst>
              <a:gd name="adj" fmla="val 4127"/>
            </a:avLst>
          </a:prstGeom>
          <a:solidFill>
            <a:srgbClr val="FFF8F0"/>
          </a:solidFill>
          <a:ln w="3048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186482" y="2923342"/>
            <a:ext cx="121920" cy="3545324"/>
          </a:xfrm>
          <a:prstGeom prst="roundRect">
            <a:avLst>
              <a:gd name="adj" fmla="val 78139"/>
            </a:avLst>
          </a:prstGeom>
          <a:solidFill>
            <a:srgbClr val="D2600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565696" y="31806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Confusion Patterns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65696" y="3671054"/>
            <a:ext cx="3590330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Both models struggled with visually similar classes: Shirt/Coat/Pullover and T-shirt/Shirt. Enhanced CNN showed lower confusion for most difficult pairs, especially footwear categories.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2923342"/>
            <a:ext cx="4196358" cy="3545324"/>
          </a:xfrm>
          <a:prstGeom prst="roundRect">
            <a:avLst>
              <a:gd name="adj" fmla="val 4127"/>
            </a:avLst>
          </a:prstGeom>
          <a:solidFill>
            <a:srgbClr val="FFF8F0"/>
          </a:solidFill>
          <a:ln w="3048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9609653" y="2923342"/>
            <a:ext cx="121920" cy="3545324"/>
          </a:xfrm>
          <a:prstGeom prst="roundRect">
            <a:avLst>
              <a:gd name="adj" fmla="val 78139"/>
            </a:avLst>
          </a:prstGeom>
          <a:solidFill>
            <a:srgbClr val="D2600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988868" y="3180636"/>
            <a:ext cx="287309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Enhancement Impact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988868" y="3671054"/>
            <a:ext cx="359033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augmentation and Batch Normalization proved effective. ANN showed larger relative improvement (+3.92%) while CNN maintained superior absolute performance.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0357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79326"/>
            <a:ext cx="5564862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92.02%</a:t>
            </a:r>
            <a:endParaRPr lang="en-US" sz="8900" dirty="0"/>
          </a:p>
        </p:txBody>
      </p:sp>
      <p:sp>
        <p:nvSpPr>
          <p:cNvPr id="4" name="Text 2"/>
          <p:cNvSpPr/>
          <p:nvPr/>
        </p:nvSpPr>
        <p:spPr>
          <a:xfrm>
            <a:off x="793790" y="4823817"/>
            <a:ext cx="556486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Enhanced CNN achieved best performance on Fashion-MNIST dataset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6919674" y="317932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Key Achievements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6919674" y="3831431"/>
            <a:ext cx="69244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Successfully compared ANN vs CNN architectures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6919674" y="4273629"/>
            <a:ext cx="692443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Demonstrated effectiveness of data augmentation and Batch Normalization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6919674" y="5078730"/>
            <a:ext cx="69244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Reduced confusion between visually similar clothing items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919674" y="5520928"/>
            <a:ext cx="692443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Established CNN as superior choice for fashion image classification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53647"/>
            <a:ext cx="896278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Future Work &amp; Recommendations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716054"/>
            <a:ext cx="6407944" cy="1685092"/>
          </a:xfrm>
          <a:prstGeom prst="roundRect">
            <a:avLst>
              <a:gd name="adj" fmla="val 5654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028224" y="2950488"/>
            <a:ext cx="31792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Advanced Architectures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440906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Explore ResNet, VGG, and other sophisticated CNN architectures for potential performance gains.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2716054"/>
            <a:ext cx="6408063" cy="1685092"/>
          </a:xfrm>
          <a:prstGeom prst="roundRect">
            <a:avLst>
              <a:gd name="adj" fmla="val 5654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662982" y="2950488"/>
            <a:ext cx="32313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Hyperparameter Tuning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62982" y="3440906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Optimize enhanced CNN model through systematic hyperparameter exploration.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627959"/>
            <a:ext cx="6407944" cy="2047994"/>
          </a:xfrm>
          <a:prstGeom prst="roundRect">
            <a:avLst>
              <a:gd name="adj" fmla="val 4652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28224" y="4862393"/>
            <a:ext cx="31911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Targeted Improvements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8224" y="5352812"/>
            <a:ext cx="593907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Apply hard negative mining or sophisticated loss functions for confused classes (Shirt/T-shirt/Coat/Pullover).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4627959"/>
            <a:ext cx="6408063" cy="2047994"/>
          </a:xfrm>
          <a:prstGeom prst="roundRect">
            <a:avLst>
              <a:gd name="adj" fmla="val 4652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662982" y="4862393"/>
            <a:ext cx="331350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Enhanced Augmentation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62982" y="5352812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 more sophisticated data augmentation techniques to further improve generalization.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636752"/>
            <a:ext cx="7556421" cy="425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700"/>
              </a:lnSpc>
              <a:buNone/>
            </a:pPr>
            <a:r>
              <a:rPr lang="en-US" sz="133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Thank You</a:t>
            </a:r>
            <a:endParaRPr lang="en-US" sz="13350" dirty="0"/>
          </a:p>
        </p:txBody>
      </p:sp>
      <p:sp>
        <p:nvSpPr>
          <p:cNvPr id="4" name="Text 1"/>
          <p:cNvSpPr/>
          <p:nvPr/>
        </p:nvSpPr>
        <p:spPr>
          <a:xfrm>
            <a:off x="6280190" y="622982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Questions &amp; Discussion Welcome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532</Words>
  <Application>Microsoft Office PowerPoint</Application>
  <PresentationFormat>Custom</PresentationFormat>
  <Paragraphs>106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Bitter Medium</vt:lpstr>
      <vt:lpstr>Open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lastModifiedBy>Jahnavi Kodi</cp:lastModifiedBy>
  <cp:revision>2</cp:revision>
  <dcterms:created xsi:type="dcterms:W3CDTF">2025-11-04T16:35:47Z</dcterms:created>
  <dcterms:modified xsi:type="dcterms:W3CDTF">2025-11-04T16:37:34Z</dcterms:modified>
</cp:coreProperties>
</file>